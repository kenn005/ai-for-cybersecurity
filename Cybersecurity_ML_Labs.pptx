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Network Intrusion Detection (NIDS)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🎯 Use Case</a:t>
            </a:r>
          </a:p>
          <a:p>
            <a:pPr lvl="1">
              <a:defRPr sz="1600"/>
            </a:pPr>
            <a:r>
              <a:t>Real‑time detection of network attacks (NSL‑KDD)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⚙️ Method</a:t>
            </a:r>
          </a:p>
          <a:p>
            <a:pPr lvl="1">
              <a:defRPr sz="1600"/>
            </a:pPr>
            <a:r>
              <a:t>Random Forest (100 trees) + Threshold lowered to 0.2</a:t>
            </a:r>
          </a:p>
          <a:p>
            <a:pPr lvl="2">
              <a:defRPr sz="1600"/>
            </a:pPr>
            <a:r>
              <a:t>• Catches attacks at only 20% suspicion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📊 Outcome</a:t>
            </a:r>
          </a:p>
          <a:p>
            <a:pPr lvl="1">
              <a:defRPr sz="1600"/>
            </a:pPr>
            <a:r>
              <a:t>Recall &gt; 95% – False Negatives near zero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💼 Business Value</a:t>
            </a:r>
          </a:p>
          <a:p>
            <a:pPr lvl="1">
              <a:defRPr sz="1600"/>
            </a:pPr>
            <a:r>
              <a:t>SOC triage efficiency, forensic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66CC"/>
                </a:solidFill>
              </a:defRPr>
            </a:pPr>
            <a:r>
              <a:t>Confusion Matrix (Test Set)</a:t>
            </a:r>
          </a:p>
          <a:p>
            <a:pPr algn="ctr">
              <a:defRPr sz="1400"/>
            </a:pPr>
            <a:r>
              <a:t>                  Predicted</a:t>
            </a:r>
          </a:p>
          <a:p>
            <a:pPr algn="ctr">
              <a:defRPr sz="1400"/>
            </a:pPr>
            <a:r>
              <a:t>              Normal    Attack</a:t>
            </a:r>
          </a:p>
          <a:p>
            <a:pPr algn="ctr">
              <a:defRPr sz="1400"/>
            </a:pPr>
            <a:r>
              <a:t>Actual Normal    TN=1450    FP=312</a:t>
            </a:r>
          </a:p>
          <a:p>
            <a:pPr algn="ctr">
              <a:defRPr sz="1400"/>
            </a:pPr>
            <a:r>
              <a:t>       Attack     FN=18     TP=987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C00000"/>
                </a:solidFill>
              </a:defRPr>
            </a:pPr>
            <a:r>
              <a:t>⚡ Threshold = 0.2  →  High Recall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Malware Detection via PE File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🔍 Feature Engineering (Digital Autopsy)</a:t>
            </a:r>
          </a:p>
          <a:p>
            <a:pPr lvl="1">
              <a:defRPr sz="1600"/>
            </a:pPr>
            <a:r>
              <a:t>• Number of sections – unusual section counts</a:t>
            </a:r>
          </a:p>
          <a:p>
            <a:pPr lvl="1">
              <a:defRPr sz="1600"/>
            </a:pPr>
            <a:r>
              <a:t>• Entropy of .text section – packed/encrypted code</a:t>
            </a:r>
          </a:p>
          <a:p>
            <a:pPr lvl="1">
              <a:defRPr sz="1600"/>
            </a:pPr>
            <a:r>
              <a:t>• Suspicious API imports – process injection, C2</a:t>
            </a:r>
          </a:p>
          <a:p>
            <a:pPr lvl="1">
              <a:defRPr sz="1600"/>
            </a:pPr>
            <a:r>
              <a:t>• Digital signature present – signed = less risk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⚙️ Algorithm</a:t>
            </a:r>
          </a:p>
          <a:p>
            <a:pPr lvl="1">
              <a:defRPr sz="1600"/>
            </a:pPr>
            <a:r>
              <a:t>Gradient Boosting Classifier (200 estimators)</a:t>
            </a:r>
          </a:p>
          <a:p>
            <a:pPr lvl="2">
              <a:defRPr sz="1600"/>
            </a:pPr>
            <a:r>
              <a:t>• Ensemble of weak learners – ideal for tabular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📈 Results</a:t>
            </a:r>
          </a:p>
          <a:p>
            <a:pPr lvl="1">
              <a:defRPr sz="1600"/>
            </a:pPr>
            <a:r>
              <a:t>Accuracy: 94%  |  Precision (malware): 91%</a:t>
            </a:r>
          </a:p>
          <a:p>
            <a:pPr lvl="1">
              <a:defRPr sz="1600"/>
            </a:pPr>
            <a:r>
              <a:t>Recall (malware): 89%  |  F1-score: 0.90</a:t>
            </a: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Confusion Matrix (sample):</a:t>
            </a:r>
          </a:p>
          <a:p>
            <a:pPr algn="ctr">
              <a:defRPr sz="1400"/>
            </a:pPr>
            <a:r>
              <a:t>               Benign   Malware</a:t>
            </a:r>
          </a:p>
          <a:p>
            <a:pPr algn="ctr">
              <a:defRPr sz="1400"/>
            </a:pPr>
            <a:r>
              <a:t>Benign         512        48</a:t>
            </a:r>
          </a:p>
          <a:p>
            <a:pPr algn="ctr">
              <a:defRPr sz="1400"/>
            </a:pPr>
            <a:r>
              <a:t>Malware         37       403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💼 Business Value</a:t>
            </a:r>
          </a:p>
          <a:p>
            <a:pPr lvl="1">
              <a:defRPr sz="1600"/>
            </a:pPr>
            <a:r>
              <a:t>• Signature‑less zero‑day protection</a:t>
            </a:r>
          </a:p>
          <a:p>
            <a:pPr lvl="1">
              <a:defRPr sz="1600"/>
            </a:pPr>
            <a:r>
              <a:t>• Rapid incident response – scan thousands of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